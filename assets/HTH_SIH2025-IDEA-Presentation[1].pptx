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2A9E58"/>
    <a:srgbClr val="F6A65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20" y="-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227-9717/11/6/1714?utm_" TargetMode="External"/><Relationship Id="rId5" Type="http://schemas.openxmlformats.org/officeDocument/2006/relationships/hyperlink" Target="https://www.futuremarketinsights.com/reports/thermoelectric-modules-market?utm_" TargetMode="External"/><Relationship Id="rId4" Type="http://schemas.openxmlformats.org/officeDocument/2006/relationships/hyperlink" Target="https://www.techsciresearch.com/report/india-water-cooler-market/4300.html?utm_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b="1" u="sng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Bi-Mode Water Thermoregulator</a:t>
            </a:r>
            <a:endParaRPr lang="en-IN" sz="3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rgbClr val="0070C0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1"/>
            <a:ext cx="6150990" cy="43365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Problem Statement ID – </a:t>
            </a:r>
            <a:r>
              <a:rPr lang="en-US" sz="2400" b="1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SIH1540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Problem Statement Title - </a:t>
            </a:r>
            <a:r>
              <a:rPr lang="en-US" sz="2400" b="1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Student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Theme - </a:t>
            </a:r>
            <a:r>
              <a:rPr lang="en-US" sz="2400" b="1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MITS/SIH/028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HardTech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Hub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888359"/>
            <a:ext cx="12285594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1" dirty="0">
                <a:solidFill>
                  <a:srgbClr val="0070C0"/>
                </a:solidFill>
                <a:latin typeface="Arial"/>
                <a:ea typeface="ＭＳ Ｐゴシック"/>
                <a:cs typeface="Calibri"/>
              </a:rPr>
              <a:t>                                               	  Idea / Solution :-</a:t>
            </a:r>
          </a:p>
          <a:p>
            <a:r>
              <a:rPr lang="en-US" sz="1600" b="1" dirty="0">
                <a:solidFill>
                  <a:srgbClr val="2A9E58"/>
                </a:solidFill>
              </a:rPr>
              <a:t>  </a:t>
            </a:r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in-One Appliance: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single, portable device that delivers both hot and cold water.</a:t>
            </a:r>
          </a:p>
          <a:p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Dual-Mode System:</a:t>
            </a:r>
            <a:endParaRPr lang="en-US" sz="1600" dirty="0">
              <a:solidFill>
                <a:srgbClr val="2A9E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high-efficiency thermoelectric Peltier modules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chill  water up to 5 to 15°C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	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Heating: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a nichrome heating element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 water up to 50 to 60°C, ideal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for beverages.</a:t>
            </a:r>
          </a:p>
          <a:p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Smart Control: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Arduino Nano microcontroller monitors water temperature and provides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automatic power cut-off for safety and energy conservation.</a:t>
            </a:r>
          </a:p>
          <a:p>
            <a:pPr>
              <a:lnSpc>
                <a:spcPct val="150000"/>
              </a:lnSpc>
            </a:pPr>
            <a:r>
              <a:rPr lang="en-US" sz="2000" b="1" i="1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	   How it Addresses the Problem</a:t>
            </a:r>
            <a:r>
              <a:rPr lang="en-US" b="1" i="1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	</a:t>
            </a:r>
            <a:r>
              <a:rPr lang="en-US" sz="2000" b="1" i="1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             Innovation and Uniqueness   </a:t>
            </a:r>
          </a:p>
          <a:p>
            <a:r>
              <a:rPr lang="en-US" sz="1600" b="1" dirty="0">
                <a:solidFill>
                  <a:srgbClr val="2A9E58"/>
                </a:solidFill>
              </a:rPr>
              <a:t>  </a:t>
            </a:r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Replaces Two Appliances: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 need          </a:t>
            </a:r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 Integration: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innovation is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a separate water heater and a refrigerator               combining effective heating and cooling into  						     </a:t>
            </a:r>
            <a:endParaRPr lang="en-US" sz="1600" b="1" dirty="0">
              <a:solidFill>
                <a:srgbClr val="2A9E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Saves Space &amp; Energy: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compact design saves     one portable unit.	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significant space and reduces overall electricity 	        </a:t>
            </a:r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Thermoregulator: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single-function 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consumption. 	 				                          devices, our solution actively regulates water </a:t>
            </a:r>
          </a:p>
          <a:p>
            <a:pPr>
              <a:buClr>
                <a:srgbClr val="2A9E58"/>
              </a:buClr>
            </a:pPr>
            <a:r>
              <a:rPr lang="en-US" sz="1600" dirty="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rgbClr val="2A9E58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Lowers Financial Barrier:</a:t>
            </a:r>
            <a:r>
              <a:rPr lang="en-US" sz="1600" dirty="0">
                <a:solidFill>
                  <a:srgbClr val="2A9E58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Provides an affordable 	temperature up or down.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solution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like students, travelers,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essence, “our product is unique because,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small households.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existing devices that only heat or cool,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both functions in one portable,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affordable, and energy-efficient unit.”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 						</a:t>
            </a:r>
          </a:p>
          <a:p>
            <a:r>
              <a:rPr lang="en-US" sz="1600" b="1" dirty="0">
                <a:solidFill>
                  <a:srgbClr val="F6A6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1" y="6359476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-254641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u="sng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- Bi-Mode Water Thermoregulator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SIH 2025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9903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HardTech</a:t>
            </a:r>
            <a:endParaRPr lang="en-US" sz="1400" dirty="0"/>
          </a:p>
          <a:p>
            <a:pPr algn="ctr"/>
            <a:r>
              <a:rPr lang="en-US" sz="1400" dirty="0"/>
              <a:t>HUB</a:t>
            </a:r>
          </a:p>
          <a:p>
            <a:pPr algn="ct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MITS/SIH/028</a:t>
            </a:r>
            <a:endParaRPr lang="en-IN" sz="800" b="1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DCE3E3-36F5-F3C7-CD73-3F4722C6654B}"/>
              </a:ext>
            </a:extLst>
          </p:cNvPr>
          <p:cNvSpPr txBox="1"/>
          <p:nvPr/>
        </p:nvSpPr>
        <p:spPr>
          <a:xfrm>
            <a:off x="2" y="16088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818189CA-7290-1A7B-23E4-7461E4CAF595}"/>
              </a:ext>
            </a:extLst>
          </p:cNvPr>
          <p:cNvSpPr/>
          <p:nvPr/>
        </p:nvSpPr>
        <p:spPr>
          <a:xfrm>
            <a:off x="159846" y="1402233"/>
            <a:ext cx="8472089" cy="1731111"/>
          </a:xfrm>
          <a:prstGeom prst="flowChartProcess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5A3745-E0FA-9DD8-35CF-1755DDD5AA56}"/>
              </a:ext>
            </a:extLst>
          </p:cNvPr>
          <p:cNvSpPr/>
          <p:nvPr/>
        </p:nvSpPr>
        <p:spPr>
          <a:xfrm>
            <a:off x="145449" y="3227145"/>
            <a:ext cx="4275085" cy="27978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893B03-ECD7-E182-3D5D-F99D2A7ABA82}"/>
              </a:ext>
            </a:extLst>
          </p:cNvPr>
          <p:cNvSpPr/>
          <p:nvPr/>
        </p:nvSpPr>
        <p:spPr>
          <a:xfrm>
            <a:off x="4505625" y="3236977"/>
            <a:ext cx="4068104" cy="279785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DD09D-F8E4-67D9-3175-390DF751B1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7" t="1630" r="1" b="6636"/>
          <a:stretch>
            <a:fillRect/>
          </a:stretch>
        </p:blipFill>
        <p:spPr>
          <a:xfrm>
            <a:off x="8717026" y="1122868"/>
            <a:ext cx="3391666" cy="50365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1449"/>
            <a:ext cx="12191999" cy="46274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0554" y="1095375"/>
            <a:ext cx="11806646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                      </a:t>
            </a:r>
            <a:r>
              <a:rPr lang="en-US" sz="2000" b="1" u="sng" dirty="0">
                <a:solidFill>
                  <a:srgbClr val="0070C0"/>
                </a:solidFill>
              </a:rPr>
              <a:t>Technologies Used (Hardware):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2x Peltier TEC1-12706 Modules                                                      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Nichrome Resistance Heating Element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Arduino Nano Microcontroller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DS18B20 Waterproof Digital Sensor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12V 10A DC Power Supply, 12V Relay, SPDT Mode Switch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High-performance CPU Heatsink with a 12V DC Fan </a:t>
            </a:r>
            <a:endParaRPr lang="en-US" b="1" dirty="0">
              <a:solidFill>
                <a:srgbClr val="F6A65F"/>
              </a:solidFill>
            </a:endParaRPr>
          </a:p>
          <a:p>
            <a:pPr algn="ctr"/>
            <a:endParaRPr lang="en-US" b="1" dirty="0">
              <a:solidFill>
                <a:srgbClr val="F6A65F"/>
              </a:solidFill>
            </a:endParaRPr>
          </a:p>
          <a:p>
            <a:pPr>
              <a:buNone/>
            </a:pPr>
            <a:r>
              <a:rPr lang="en-US" b="1" dirty="0"/>
              <a:t>			      </a:t>
            </a:r>
            <a:r>
              <a:rPr lang="en-US" sz="1600" b="1" dirty="0"/>
              <a:t>In future</a:t>
            </a:r>
            <a:r>
              <a:rPr lang="en-US" sz="1600" dirty="0"/>
              <a:t>, “the device can be integrated with a solar </a:t>
            </a:r>
          </a:p>
          <a:p>
            <a:pPr>
              <a:buNone/>
            </a:pPr>
            <a:r>
              <a:rPr lang="en-US" sz="1600" dirty="0"/>
              <a:t>			       panel and battery system for direct renewable panel </a:t>
            </a:r>
          </a:p>
          <a:p>
            <a:pPr>
              <a:buNone/>
            </a:pPr>
            <a:r>
              <a:rPr lang="en-US" sz="1600" dirty="0"/>
              <a:t>			       generation, making it fully sustainable.”</a:t>
            </a:r>
          </a:p>
          <a:p>
            <a:pPr>
              <a:buNone/>
            </a:pPr>
            <a:r>
              <a:rPr lang="en-US" b="1" dirty="0"/>
              <a:t>         			</a:t>
            </a:r>
            <a:endParaRPr lang="en-US" u="sng" dirty="0"/>
          </a:p>
          <a:p>
            <a:pPr>
              <a:buNone/>
            </a:pPr>
            <a:r>
              <a:rPr lang="en-US" dirty="0"/>
              <a:t>			      </a:t>
            </a:r>
          </a:p>
          <a:p>
            <a:pPr>
              <a:buNone/>
            </a:pPr>
            <a:r>
              <a:rPr lang="en-US" dirty="0"/>
              <a:t>			,            </a:t>
            </a:r>
            <a:r>
              <a:rPr lang="en-US" sz="2000" b="1" u="sng" dirty="0">
                <a:solidFill>
                  <a:srgbClr val="0070C0"/>
                </a:solidFill>
              </a:rPr>
              <a:t>Methodology and Implementation Process:</a:t>
            </a:r>
            <a:r>
              <a:rPr lang="en-US" sz="2000" dirty="0">
                <a:solidFill>
                  <a:schemeClr val="accent1"/>
                </a:solidFill>
              </a:rPr>
              <a:t>                    </a:t>
            </a:r>
            <a:r>
              <a:rPr lang="en-US" dirty="0"/>
              <a:t>Fig : 1.1  Circuit Diagram</a:t>
            </a:r>
          </a:p>
          <a:p>
            <a:pPr>
              <a:buNone/>
            </a:pPr>
            <a:r>
              <a:rPr lang="en-US" dirty="0"/>
              <a:t>														</a:t>
            </a: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				In </a:t>
            </a:r>
            <a:r>
              <a:rPr lang="en-US" altLang="en-US" b="1" dirty="0">
                <a:latin typeface="Arial" panose="020B0604020202020204" pitchFamily="34" charset="0"/>
              </a:rPr>
              <a:t>COOL mode</a:t>
            </a:r>
            <a:r>
              <a:rPr lang="en-US" altLang="en-US" dirty="0">
                <a:latin typeface="Arial" panose="020B0604020202020204" pitchFamily="34" charset="0"/>
              </a:rPr>
              <a:t>, the relay powers the Peltier modules  until water reaches </a:t>
            </a:r>
            <a:r>
              <a:rPr lang="en-US" altLang="en-US" b="1" dirty="0">
                <a:latin typeface="Arial" panose="020B0604020202020204" pitchFamily="34" charset="0"/>
              </a:rPr>
              <a:t>15°C</a:t>
            </a:r>
            <a:r>
              <a:rPr lang="en-US" altLang="en-US" dirty="0">
                <a:latin typeface="Arial" panose="020B0604020202020204" pitchFamily="34" charset="0"/>
              </a:rPr>
              <a:t>, then turns off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			In </a:t>
            </a:r>
            <a:r>
              <a:rPr lang="en-US" altLang="en-US" b="1" dirty="0">
                <a:latin typeface="Arial" panose="020B0604020202020204" pitchFamily="34" charset="0"/>
              </a:rPr>
              <a:t>HEAT mode</a:t>
            </a:r>
            <a:r>
              <a:rPr lang="en-US" altLang="en-US" dirty="0">
                <a:latin typeface="Arial" panose="020B0604020202020204" pitchFamily="34" charset="0"/>
              </a:rPr>
              <a:t>, the relay powers the Nichrome heater until water reaches </a:t>
            </a:r>
            <a:r>
              <a:rPr lang="en-US" altLang="en-US" b="1" dirty="0">
                <a:latin typeface="Arial" panose="020B0604020202020204" pitchFamily="34" charset="0"/>
              </a:rPr>
              <a:t>60°C</a:t>
            </a:r>
            <a:r>
              <a:rPr lang="en-US" altLang="en-US" dirty="0">
                <a:latin typeface="Arial" panose="020B0604020202020204" pitchFamily="34" charset="0"/>
              </a:rPr>
              <a:t>, then turns off.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				The Arduino continuously monitors the temperature to maintain it within the desired range.</a:t>
            </a:r>
          </a:p>
          <a:p>
            <a:pPr>
              <a:buNone/>
            </a:pPr>
            <a:endParaRPr lang="en-US" dirty="0">
              <a:solidFill>
                <a:srgbClr val="F6A65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SIH 2025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HardTech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HUB</a:t>
            </a:r>
          </a:p>
          <a:p>
            <a:pPr algn="ctr">
              <a:defRPr/>
            </a:pP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MITS/SIH/028</a:t>
            </a:r>
            <a:endParaRPr lang="en-IN" sz="800" b="1" dirty="0"/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86FD7646-32F2-D9B2-16A3-EC1CD054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13526" y="4025474"/>
            <a:ext cx="119089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hangingPunct="0"/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E17181E-E499-C81E-129F-CFF38F396D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80" t="7703" r="14325"/>
          <a:stretch>
            <a:fillRect/>
          </a:stretch>
        </p:blipFill>
        <p:spPr>
          <a:xfrm>
            <a:off x="6422215" y="1253101"/>
            <a:ext cx="5307662" cy="331288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BD7A4CF-DF12-DCC1-99AE-9E36E45F3A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494"/>
          <a:stretch>
            <a:fillRect/>
          </a:stretch>
        </p:blipFill>
        <p:spPr>
          <a:xfrm>
            <a:off x="-294000" y="3606801"/>
            <a:ext cx="2622856" cy="247876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FBBBDA9-7E80-F9CD-BE30-3F1CB0F2F6EA}"/>
              </a:ext>
            </a:extLst>
          </p:cNvPr>
          <p:cNvSpPr/>
          <p:nvPr/>
        </p:nvSpPr>
        <p:spPr>
          <a:xfrm>
            <a:off x="6433381" y="1252692"/>
            <a:ext cx="5307662" cy="32994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85466A-1030-F6BF-D1F2-254DD93D5494}"/>
              </a:ext>
            </a:extLst>
          </p:cNvPr>
          <p:cNvSpPr/>
          <p:nvPr/>
        </p:nvSpPr>
        <p:spPr>
          <a:xfrm>
            <a:off x="1828800" y="3663423"/>
            <a:ext cx="4355690" cy="73138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</a:rPr>
              <a:t>SIH 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HardTech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HUB</a:t>
            </a:r>
          </a:p>
          <a:p>
            <a:pPr algn="ctr">
              <a:defRPr/>
            </a:pP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MITS/SIH/028</a:t>
            </a:r>
            <a:endParaRPr lang="en-IN" sz="800" b="1" dirty="0"/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33BDB7-48FA-9C3A-BB8B-DDF4DE3F9AB1}"/>
              </a:ext>
            </a:extLst>
          </p:cNvPr>
          <p:cNvSpPr txBox="1"/>
          <p:nvPr/>
        </p:nvSpPr>
        <p:spPr>
          <a:xfrm>
            <a:off x="81420" y="1288354"/>
            <a:ext cx="64922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ri"/>
                <a:ea typeface="ＭＳ Ｐゴシック"/>
                <a:cs typeface="Calibri"/>
              </a:rPr>
              <a:t>Components are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affordable</a:t>
            </a:r>
            <a:r>
              <a:rPr lang="en-US" dirty="0">
                <a:latin typeface="Calibri"/>
                <a:ea typeface="ＭＳ Ｐゴシック"/>
                <a:cs typeface="Calibri"/>
              </a:rPr>
              <a:t>, widely available, and use proven engineering principles (Peltier effect and Joule heating).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>
              <a:latin typeface="Calibri"/>
              <a:ea typeface="ＭＳ Ｐゴシック"/>
              <a:cs typeface="Calibri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ri"/>
                <a:ea typeface="ＭＳ Ｐゴシック"/>
                <a:cs typeface="Calibri"/>
              </a:rPr>
              <a:t>Prototype cost is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under ₹3000</a:t>
            </a:r>
            <a:r>
              <a:rPr lang="en-US" dirty="0">
                <a:latin typeface="Calibri"/>
                <a:ea typeface="ＭＳ Ｐゴシック"/>
                <a:cs typeface="Calibri"/>
              </a:rPr>
              <a:t>, with substantial cost reduction possible through bulk production.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>
              <a:latin typeface="Calibri"/>
              <a:ea typeface="ＭＳ Ｐゴシック"/>
              <a:cs typeface="Calibri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latin typeface="Calibri"/>
                <a:ea typeface="ＭＳ Ｐゴシック"/>
                <a:cs typeface="Calibri"/>
              </a:rPr>
              <a:t>Straight forward </a:t>
            </a:r>
            <a:r>
              <a:rPr lang="en-US" dirty="0">
                <a:latin typeface="Calibri"/>
                <a:ea typeface="ＭＳ Ｐゴシック"/>
                <a:cs typeface="Calibri"/>
              </a:rPr>
              <a:t>control logic enables reliable temperature management without complex circuitry.</a:t>
            </a:r>
          </a:p>
          <a:p>
            <a:endParaRPr lang="en-US" dirty="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Gradual cooling (10-15  mins for 2L) ensures stability, with efficient heat dissipation for better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alibri"/>
              <a:ea typeface="ＭＳ Ｐゴシック"/>
              <a:cs typeface="Calibri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ri"/>
                <a:ea typeface="ＭＳ Ｐゴシック"/>
                <a:cs typeface="Calibri"/>
              </a:rPr>
              <a:t>Strategies include improved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heatsink design</a:t>
            </a:r>
            <a:r>
              <a:rPr lang="en-US" dirty="0">
                <a:latin typeface="Calibri"/>
                <a:ea typeface="ＭＳ Ｐゴシック"/>
                <a:cs typeface="Calibri"/>
              </a:rPr>
              <a:t>, better thermal</a:t>
            </a:r>
          </a:p>
          <a:p>
            <a:r>
              <a:rPr lang="en-US" dirty="0">
                <a:latin typeface="Calibri"/>
                <a:ea typeface="ＭＳ Ｐゴシック"/>
                <a:cs typeface="Calibri"/>
              </a:rPr>
              <a:t>     contact surfaces, </a:t>
            </a:r>
            <a:r>
              <a:rPr lang="en-US" b="1" dirty="0">
                <a:latin typeface="Calibri"/>
                <a:ea typeface="ＭＳ Ｐゴシック"/>
                <a:cs typeface="Calibri"/>
              </a:rPr>
              <a:t>insulation</a:t>
            </a:r>
            <a:r>
              <a:rPr lang="en-US" dirty="0">
                <a:latin typeface="Calibri"/>
                <a:ea typeface="ＭＳ Ｐゴシック"/>
                <a:cs typeface="Calibri"/>
              </a:rPr>
              <a:t>, and bulk sourcing to keep costs low.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2036A-2F4A-7EDB-8594-552C1B218E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5" t="5974" b="6655"/>
          <a:stretch>
            <a:fillRect/>
          </a:stretch>
        </p:blipFill>
        <p:spPr>
          <a:xfrm>
            <a:off x="6431165" y="1618789"/>
            <a:ext cx="5758073" cy="39508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E02167-A7DC-9C25-81ED-C3E79ABF617D}"/>
              </a:ext>
            </a:extLst>
          </p:cNvPr>
          <p:cNvSpPr txBox="1"/>
          <p:nvPr/>
        </p:nvSpPr>
        <p:spPr>
          <a:xfrm>
            <a:off x="176981" y="5487446"/>
            <a:ext cx="946846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“Market research shows no existing product offers both heating and cooling; available devices perform only one function or regulate temperature in a limited way.”</a:t>
            </a:r>
            <a:endParaRPr lang="en-IN" sz="20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</a:rPr>
              <a:t>SIH 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9605" y="21486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HardTech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HUB</a:t>
            </a:r>
          </a:p>
          <a:p>
            <a:pPr algn="ctr">
              <a:defRPr/>
            </a:pP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MITS/SIH/028</a:t>
            </a:r>
            <a:endParaRPr lang="en-IN" sz="800" b="1" dirty="0"/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8DEA91-8052-F852-3FE4-2F95F8A38F0F}"/>
              </a:ext>
            </a:extLst>
          </p:cNvPr>
          <p:cNvSpPr txBox="1"/>
          <p:nvPr/>
        </p:nvSpPr>
        <p:spPr>
          <a:xfrm>
            <a:off x="7227142" y="1974613"/>
            <a:ext cx="43552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>
                <a:latin typeface="Bookman Old Style" panose="02050604050505020204" pitchFamily="18" charset="0"/>
              </a:rPr>
              <a:t>Better living &amp; convenience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40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>
                <a:latin typeface="Bookman Old Style" panose="02050604050505020204" pitchFamily="18" charset="0"/>
              </a:rPr>
              <a:t>Saves cost &amp; energy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40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>
                <a:latin typeface="Bookman Old Style" panose="02050604050505020204" pitchFamily="18" charset="0"/>
              </a:rPr>
              <a:t>New affordable product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40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>
                <a:latin typeface="Bookman Old Style" panose="02050604050505020204" pitchFamily="18" charset="0"/>
              </a:rPr>
              <a:t>Eco-friendly, less </a:t>
            </a:r>
          </a:p>
          <a:p>
            <a:r>
              <a:rPr lang="en-US" sz="2400">
                <a:latin typeface="Bookman Old Style" panose="02050604050505020204" pitchFamily="18" charset="0"/>
              </a:rPr>
              <a:t>   e-waste</a:t>
            </a:r>
            <a:endParaRPr lang="en-IN" sz="2400">
              <a:latin typeface="Bookman Old Style" panose="0205060405050502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D37378-D9DB-021E-17FF-3DEC7E5E5E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78" r="3635" b="6816"/>
          <a:stretch>
            <a:fillRect/>
          </a:stretch>
        </p:blipFill>
        <p:spPr>
          <a:xfrm>
            <a:off x="329773" y="1059580"/>
            <a:ext cx="6430247" cy="51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</a:rPr>
              <a:t>SIH 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HardTech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HUB</a:t>
            </a:r>
          </a:p>
          <a:p>
            <a:pPr algn="ctr">
              <a:defRPr/>
            </a:pP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MITS/SIH/028</a:t>
            </a:r>
            <a:endParaRPr lang="en-IN" sz="800" b="1" dirty="0"/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13938F-6B56-5C99-6B42-C612C9057CFB}"/>
              </a:ext>
            </a:extLst>
          </p:cNvPr>
          <p:cNvSpPr txBox="1"/>
          <p:nvPr/>
        </p:nvSpPr>
        <p:spPr>
          <a:xfrm>
            <a:off x="329773" y="1064663"/>
            <a:ext cx="1172071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Thermoelectric Cooling &amp; Heating Principles.</a:t>
            </a:r>
          </a:p>
          <a:p>
            <a:r>
              <a:rPr lang="en-US" err="1"/>
              <a:t>Focus</a:t>
            </a:r>
            <a:r>
              <a:rPr lang="en-US"/>
              <a:t>: D</a:t>
            </a:r>
            <a:r>
              <a:rPr lang="en-US" dirty="0"/>
              <a:t>. M. Rowe (ed.), CRC Handbook of </a:t>
            </a:r>
            <a:r>
              <a:rPr lang="en-US" dirty="0" err="1"/>
              <a:t>Thermoelectrics</a:t>
            </a:r>
            <a:r>
              <a:rPr lang="en-US" dirty="0"/>
              <a:t> – a gold standard for understanding the Peltier effect and thermoelectric modules.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Investigation and marketing research of the Simultaneous Cooling and Heating.</a:t>
            </a:r>
          </a:p>
          <a:p>
            <a:r>
              <a:rPr lang="en-US" dirty="0"/>
              <a:t>Focus: Development of a sustainable, compact water refrigeration system using Peltier elements, suitable for domestic use; discusses COP and future optimizations</a:t>
            </a:r>
          </a:p>
          <a:p>
            <a:r>
              <a:rPr lang="en-US" dirty="0"/>
              <a:t>Links - </a:t>
            </a:r>
            <a:r>
              <a:rPr lang="en-US" dirty="0">
                <a:hlinkClick r:id="rId4"/>
              </a:rPr>
              <a:t>https://www.techsciresearch.com/report/india-water-cooler-market/4300.html?utm_s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Economic- effectiveness experimental case study for instant cooling of drinking-water using Peltier module</a:t>
            </a:r>
          </a:p>
          <a:p>
            <a:r>
              <a:rPr lang="en-IN" dirty="0"/>
              <a:t>Focus: Evaluates cost-effectiveness of instant water cooling via Peltier modules under various conditions using economic and thermodynamic analysis.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/>
          </a:p>
          <a:p>
            <a:r>
              <a:rPr lang="en-IN" dirty="0"/>
              <a:t>Link - </a:t>
            </a:r>
            <a:r>
              <a:rPr lang="en-IN" dirty="0">
                <a:hlinkClick r:id="rId5"/>
              </a:rPr>
              <a:t>https://www.futuremarketinsights.com/reports/thermoelectric-modules-market?utm_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Thermoelectric Generator Design and Characterization for Industrial Pipe Waste Heat Recovery</a:t>
            </a:r>
          </a:p>
          <a:p>
            <a:r>
              <a:rPr lang="en-US" dirty="0"/>
              <a:t>Focus: Thermal coupling, heat flow paths, trade-offs between module placement, thermal contact, Insights on system integration and characterization.</a:t>
            </a:r>
          </a:p>
          <a:p>
            <a:r>
              <a:rPr lang="en-US" dirty="0"/>
              <a:t>Link - </a:t>
            </a:r>
            <a:r>
              <a:rPr lang="en-US" dirty="0">
                <a:hlinkClick r:id="rId6"/>
              </a:rPr>
              <a:t>https://www.mdpi.com/2227-9717/11/6/1714?utm_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933</Words>
  <Application>Microsoft Office PowerPoint</Application>
  <PresentationFormat>Widescreen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Bookman Old Style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- Bi-Mode Water Thermoregulator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ARYAN CHOUHAN</cp:lastModifiedBy>
  <cp:revision>2</cp:revision>
  <dcterms:created xsi:type="dcterms:W3CDTF">2013-12-12T18:46:50Z</dcterms:created>
  <dcterms:modified xsi:type="dcterms:W3CDTF">2026-01-15T06:35:40Z</dcterms:modified>
  <cp:category/>
</cp:coreProperties>
</file>